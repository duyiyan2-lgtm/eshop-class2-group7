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f40393dde604d48" /><Relationship Type="http://schemas.openxmlformats.org/officeDocument/2006/relationships/extended-properties" Target="/docProps/app.xml" Id="R5d26511685d64d97" /><Relationship Type="http://schemas.openxmlformats.org/officeDocument/2006/relationships/officeDocument" Target="/ppt/presentation.xml" Id="Rc81f19f3aa6f4c2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910730f5414222"/>
  </p:sldMasterIdLst>
  <p:notesMasterIdLst>
    <p:notesMasterId xmlns:r="http://schemas.openxmlformats.org/officeDocument/2006/relationships" r:id="R726a6518a8e44b1e"/>
  </p:notesMasterIdLst>
  <p:sldIdLst>
    <p:sldId xmlns:r="http://schemas.openxmlformats.org/officeDocument/2006/relationships" id="256" r:id="Rb59e4ab688254200"/>
    <p:sldId xmlns:r="http://schemas.openxmlformats.org/officeDocument/2006/relationships" id="257" r:id="R6de001bba42a4e30"/>
    <p:sldId xmlns:r="http://schemas.openxmlformats.org/officeDocument/2006/relationships" id="258" r:id="R69c0becdc1ee4baa"/>
    <p:sldId xmlns:r="http://schemas.openxmlformats.org/officeDocument/2006/relationships" id="259" r:id="Re047e666710d4ec6"/>
    <p:sldId xmlns:r="http://schemas.openxmlformats.org/officeDocument/2006/relationships" id="260" r:id="R766cfb0b94994aa5"/>
    <p:sldId xmlns:r="http://schemas.openxmlformats.org/officeDocument/2006/relationships" id="261" r:id="R84604deee3bb49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e04103bac5b4955" /><Relationship Type="http://schemas.openxmlformats.org/officeDocument/2006/relationships/slideMaster" Target="/ppt/slideMasters/slideMaster1.xml" Id="R1d910730f5414222" /><Relationship Type="http://schemas.openxmlformats.org/officeDocument/2006/relationships/notesMaster" Target="/ppt/notesMasters/notesMaster1.xml" Id="R726a6518a8e44b1e" /><Relationship Type="http://schemas.openxmlformats.org/officeDocument/2006/relationships/presProps" Target="/ppt/presProps.xml" Id="Rb3bb02a2e0c24806" /><Relationship Type="http://schemas.openxmlformats.org/officeDocument/2006/relationships/tableStyles" Target="/ppt/tableStyles.xml" Id="Rf995bebba8354d5d" /><Relationship Type="http://schemas.openxmlformats.org/officeDocument/2006/relationships/slide" Target="/ppt/slides/slide1.xml" Id="Rb59e4ab688254200" /><Relationship Type="http://schemas.openxmlformats.org/officeDocument/2006/relationships/slide" Target="/ppt/slides/slide2.xml" Id="R6de001bba42a4e30" /><Relationship Type="http://schemas.openxmlformats.org/officeDocument/2006/relationships/slide" Target="/ppt/slides/slide3.xml" Id="R69c0becdc1ee4baa" /><Relationship Type="http://schemas.openxmlformats.org/officeDocument/2006/relationships/slide" Target="/ppt/slides/slide4.xml" Id="Re047e666710d4ec6" /><Relationship Type="http://schemas.openxmlformats.org/officeDocument/2006/relationships/slide" Target="/ppt/slides/slide5.xml" Id="R766cfb0b94994aa5" /><Relationship Type="http://schemas.openxmlformats.org/officeDocument/2006/relationships/slide" Target="/ppt/slides/slide6.xml" Id="R84604deee3bb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d39398a1d547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2d308f7d4c74067" /><Relationship Type="http://schemas.openxmlformats.org/officeDocument/2006/relationships/notesMaster" Target="/ppt/notesMasters/notesMaster1.xml" Id="R6a2282ce6c494e9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26d482ba1da481a" /><Relationship Type="http://schemas.openxmlformats.org/officeDocument/2006/relationships/notesMaster" Target="/ppt/notesMasters/notesMaster1.xml" Id="R40658b2705d34a5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a3efda75d8454e" /><Relationship Type="http://schemas.openxmlformats.org/officeDocument/2006/relationships/notesMaster" Target="/ppt/notesMasters/notesMaster1.xml" Id="R3f36dffc54494da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b86662579b4d45" /><Relationship Type="http://schemas.openxmlformats.org/officeDocument/2006/relationships/notesMaster" Target="/ppt/notesMasters/notesMaster1.xml" Id="Rdc1d048e90e543f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2107a30dedc4dfd" /><Relationship Type="http://schemas.openxmlformats.org/officeDocument/2006/relationships/notesMaster" Target="/ppt/notesMasters/notesMaster1.xml" Id="R5fb1a4add0f549e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418543105242fd" /><Relationship Type="http://schemas.openxmlformats.org/officeDocument/2006/relationships/notesMaster" Target="/ppt/notesMasters/notesMaster1.xml" Id="Rb325bc03edd241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【约15秒】大家好，我是第7组组长祝意远。我们完成的是一个三端、多角色的 E-Shop 电子商城。我的主要工作是架构、后端关键业务、多人代码集成、测试与服务器部署。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30秒】我负责的不是单一页面，而是三个层面。第一，统一三端架构、接口和权限边界；第二，完成订单库存、超时取消和商家隔离等关键后端；第三，对组员代码做差异审查和合并，统一完成自动化测试、Docker 部署以及验收材料。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【约30秒】系统按课程要求交付 PC、手机 H5 和 Web 管理三端，并进一步拆成四个入口。它们共享同一套 Spring Boot API 和 MySQL 数据，JWT 负责识别买家、商家和管理员。这样既减少重复开发，也保证不同终端看到同一份商品、库存和订单状态。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https://eshop.zhuyiyuan9.top/（统一入口截图，2026-08-07）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【约40秒】核心亮点是一条完整、受约束的交易链。买家从 SKU 选择到下单支付，金额由服务端计算，库存用条件更新防止超卖；商家只能看到并发货自己的订单，seller_id 从数据库到接口形成隔离；买家收货评价后，管理员还能做账号、评价和运营监管。订单状态机同时限制重复支付、重复发货和错误状态操作。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C:/Users/duyiyan/Desktop/eshop-class2-group7/docs/05-总结答辩/项目总结报告.md</a:t>
            </a:r>
          </a:p>
          <a:p xmlns:a="http://schemas.openxmlformats.org/drawingml/2006/main">
            <a:r>
              <a:t>- C:/Users/duyiyan/Desktop/eshop-class2-group7/eshop-release-v1.0/docs/02-设计文档/商家数据隔离设计-20260807.md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【约30秒】为了证明项目不是只在页面上能点，我建立了三层验证。第一层是 26 项后端自动化测试全部通过；第二层是 Flyway 迁移到 V9，并在真实 MySQL 完成完整 API 冒烟；第三层是 Docker 三服务、HTTPS 正式域名和健康接口持续可用。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【约15秒】因此，我们的项目已经达到可运行、可验证、可交付的验收状态。接下来我会用正式环境演示买家下单、商家发货、买家收货评价这一条最能体现系统完整性的链路。谢谢老师。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C:/Users/duyiyan/Desktop/eshop-class2-group7/reports/weekly/第3周-周报.md</a:t>
            </a:r>
          </a:p>
          <a:p xmlns:a="http://schemas.openxmlformats.org/drawingml/2006/main">
            <a:r>
              <a:t>- https://eshop.zhuyiyuan9.top/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94ef5e75d749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b1abadbd9814952" /><Relationship Type="http://schemas.openxmlformats.org/officeDocument/2006/relationships/slideLayout" Target="/ppt/slideLayouts/slideLayout1.xml" Id="R3e551e11f13247c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e551e11f13247c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19c9b30fe44bb2" /><Relationship Type="http://schemas.openxmlformats.org/officeDocument/2006/relationships/notesSlide" Target="/ppt/notesSlides/notesSlide1.xml" Id="R10b50f54eb5c48a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9a7869135a4fad" /><Relationship Type="http://schemas.openxmlformats.org/officeDocument/2006/relationships/notesSlide" Target="/ppt/notesSlides/notesSlide2.xml" Id="Re636e5a8249c4ec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9d6392fe34d81" /><Relationship Type="http://schemas.openxmlformats.org/officeDocument/2006/relationships/image" Target="/ppt/media/image.png" Id="R51fe900e549b4cba" /><Relationship Type="http://schemas.openxmlformats.org/officeDocument/2006/relationships/notesSlide" Target="/ppt/notesSlides/notesSlide3.xml" Id="R0cbbaae69e7d4ba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156942f63f47c1" /><Relationship Type="http://schemas.openxmlformats.org/officeDocument/2006/relationships/notesSlide" Target="/ppt/notesSlides/notesSlide4.xml" Id="R2b08c2ec2717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6e284097fe4b5c" /><Relationship Type="http://schemas.openxmlformats.org/officeDocument/2006/relationships/notesSlide" Target="/ppt/notesSlides/notesSlide5.xml" Id="R7d0c6c90ca5849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16fe8bbf2b48cc" /><Relationship Type="http://schemas.openxmlformats.org/officeDocument/2006/relationships/notesSlide" Target="/ppt/notesSlides/notesSlide6.xml" Id="Ra4b77a4311e6428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6F05A50-E86A-44D1-8F8C-AA2B5DFF6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150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9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24级全栈2班 · 第7组</a:t>
            </a:r>
          </a:p>
        </p:txBody>
      </p:sp>
      <p:sp>
        <p:nvSpPr>
          <p:cNvPr id="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1C2A6163-48F1-4AA5-8CFD-1671E3823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62100"/>
            <a:ext cx="16383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3C475F70-1129-49A5-B4D6-B9792CE53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90700"/>
            <a:ext cx="9525000" cy="2457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E-Shop 电子商城</a:t>
            </a:r>
          </a:p>
          <a:p xmlns:a="http://schemas.openxmlformats.org/drawingml/2006/main">
            <a:pPr algn="l">
              <a:lnSpc>
                <a:spcPct val="90000"/>
              </a:lnSpc>
              <a:spcAft>
                <a:spcPts val="0"/>
              </a:spcAft>
              <a:buNone/>
              <a:defRPr sz="60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0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项目验收汇报</a:t>
            </a:r>
          </a:p>
        </p:txBody>
      </p:sp>
      <p:sp>
        <p:nvSpPr>
          <p:cNvPr id="4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A06DE7EA-A48D-4B13-9A1C-C3AD3ECD7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57750"/>
            <a:ext cx="5905500" cy="1066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25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祝意远 · 2444310229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8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组长 / 架构 / 后端与集成负责人</a:t>
            </a:r>
          </a:p>
        </p:txBody>
      </p:sp>
    </p:spTree>
    <p:extLst>
      <p:ext uri="{BB962C8B-B14F-4D97-AF65-F5344CB8AC3E}">
        <p14:creationId xmlns:p14="http://schemas.microsoft.com/office/powerpoint/2010/main" val="97543278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responsibility-title">
            <a:extLst xmlns:a="http://schemas.openxmlformats.org/drawingml/2006/main">
              <a:ext uri="{FF2B5EF4-FFF2-40B4-BE49-F238E27FC236}">
                <a16:creationId xmlns:a16="http://schemas.microsoft.com/office/drawing/2014/main" id="{206D2B1D-C3F7-4394-B60C-8CBCEFFD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我的职责：把各模块变成一个可交付系统</a:t>
            </a:r>
          </a:p>
        </p:txBody>
      </p:sp>
      <p:sp>
        <p:nvSpPr>
          <p:cNvPr id="2" name="accent-rule-166">
            <a:extLst xmlns:a="http://schemas.openxmlformats.org/drawingml/2006/main">
              <a:ext uri="{FF2B5EF4-FFF2-40B4-BE49-F238E27FC236}">
                <a16:creationId xmlns:a16="http://schemas.microsoft.com/office/drawing/2014/main" id="{6789B814-31F4-4D88-B710-AC10471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581150"/>
            <a:ext cx="12192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3" name="responsibility-index-01">
            <a:extLst xmlns:a="http://schemas.openxmlformats.org/drawingml/2006/main">
              <a:ext uri="{FF2B5EF4-FFF2-40B4-BE49-F238E27FC236}">
                <a16:creationId xmlns:a16="http://schemas.microsoft.com/office/drawing/2014/main" id="{8B1D673C-4C69-4652-9692-C49BAC616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4" name="responsibility-body-01">
            <a:extLst xmlns:a="http://schemas.openxmlformats.org/drawingml/2006/main">
              <a:ext uri="{FF2B5EF4-FFF2-40B4-BE49-F238E27FC236}">
                <a16:creationId xmlns:a16="http://schemas.microsoft.com/office/drawing/2014/main" id="{F7FF2424-EB9E-4F1B-BB5B-41B0BDA6E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架构与边界</a:t>
            </a:r>
          </a:p>
          <a:p xmlns:a="http://schemas.openxmlformats.org/drawingml/2006/main">
            <a:pPr algn="l">
              <a:lnSpc>
                <a:spcPct val="14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三端公共基建
接口与数据库冻结
JWT 与角色权限</a:t>
            </a:r>
          </a:p>
        </p:txBody>
      </p:sp>
      <p:sp>
        <p:nvSpPr>
          <p:cNvPr id="5" name="responsibility-index-02">
            <a:extLst xmlns:a="http://schemas.openxmlformats.org/drawingml/2006/main">
              <a:ext uri="{FF2B5EF4-FFF2-40B4-BE49-F238E27FC236}">
                <a16:creationId xmlns:a16="http://schemas.microsoft.com/office/drawing/2014/main" id="{A4DB3EAB-40A7-468C-9BEC-F01F3FE55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6" name="responsibility-body-02">
            <a:extLst xmlns:a="http://schemas.openxmlformats.org/drawingml/2006/main">
              <a:ext uri="{FF2B5EF4-FFF2-40B4-BE49-F238E27FC236}">
                <a16:creationId xmlns:a16="http://schemas.microsoft.com/office/drawing/2014/main" id="{4653094B-0944-4E05-B61A-5F667A940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关键业务实现</a:t>
            </a:r>
          </a:p>
          <a:p xmlns:a="http://schemas.openxmlformats.org/drawingml/2006/main">
            <a:pPr algn="l">
              <a:lnSpc>
                <a:spcPct val="14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订单与库存状态机
C03 超时自动取消
商家数据隔离</a:t>
            </a:r>
          </a:p>
        </p:txBody>
      </p:sp>
      <p:sp>
        <p:nvSpPr>
          <p:cNvPr id="7" name="responsibility-index-03">
            <a:extLst xmlns:a="http://schemas.openxmlformats.org/drawingml/2006/main">
              <a:ext uri="{FF2B5EF4-FFF2-40B4-BE49-F238E27FC236}">
                <a16:creationId xmlns:a16="http://schemas.microsoft.com/office/drawing/2014/main" id="{A6EF0FED-722E-40EE-BA44-8AE4CC68A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238375"/>
            <a:ext cx="1143000" cy="666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9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9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sponsibility-body-03">
            <a:extLst xmlns:a="http://schemas.openxmlformats.org/drawingml/2006/main">
              <a:ext uri="{FF2B5EF4-FFF2-40B4-BE49-F238E27FC236}">
                <a16:creationId xmlns:a16="http://schemas.microsoft.com/office/drawing/2014/main" id="{F7C313B9-8C91-4AFC-ADCD-F37030C6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43250"/>
            <a:ext cx="3568732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5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集成与交付</a:t>
            </a:r>
          </a:p>
          <a:p xmlns:a="http://schemas.openxmlformats.org/drawingml/2006/main">
            <a:pPr algn="l">
              <a:lnSpc>
                <a:spcPct val="14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代码审查与冲突合并
自动化与真实库回归
Docker、HTTPS、报告</a:t>
            </a:r>
          </a:p>
        </p:txBody>
      </p:sp>
      <p:sp>
        <p:nvSpPr>
          <p:cNvPr id="9" name="slide-number-2">
            <a:extLst xmlns:a="http://schemas.openxmlformats.org/drawingml/2006/main">
              <a:ext uri="{FF2B5EF4-FFF2-40B4-BE49-F238E27FC236}">
                <a16:creationId xmlns:a16="http://schemas.microsoft.com/office/drawing/2014/main" id="{85395F49-9C7A-4692-97DA-B3CB0D954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94384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rminal-title">
            <a:extLst xmlns:a="http://schemas.openxmlformats.org/drawingml/2006/main">
              <a:ext uri="{FF2B5EF4-FFF2-40B4-BE49-F238E27FC236}">
                <a16:creationId xmlns:a16="http://schemas.microsoft.com/office/drawing/2014/main" id="{1C49BBD1-10D0-40EF-80E3-CDDD8F14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5619750" cy="1123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三端四入口，共享一套后端</a:t>
            </a:r>
          </a:p>
        </p:txBody>
      </p:sp>
      <p:sp>
        <p:nvSpPr>
          <p:cNvPr id="2" name="portal-backing">
            <a:extLst xmlns:a="http://schemas.openxmlformats.org/drawingml/2006/main">
              <a:ext uri="{FF2B5EF4-FFF2-40B4-BE49-F238E27FC236}">
                <a16:creationId xmlns:a16="http://schemas.microsoft.com/office/drawing/2014/main" id="{7BAC4A54-1AD9-49AD-ACD5-CA97DCCB0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9069" y="396431"/>
            <a:ext cx="5539740" cy="5602034"/>
          </a:xfrm>
          <a:prstGeom xmlns:a="http://schemas.openxmlformats.org/drawingml/2006/main" prst="roundRect">
            <a:avLst>
              <a:gd name="adj" fmla="val 137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" name="terminal-body">
            <a:extLst xmlns:a="http://schemas.openxmlformats.org/drawingml/2006/main">
              <a:ext uri="{FF2B5EF4-FFF2-40B4-BE49-F238E27FC236}">
                <a16:creationId xmlns:a16="http://schemas.microsoft.com/office/drawing/2014/main" id="{934CD534-A752-4544-8FC5-712EB36B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00250"/>
            <a:ext cx="5429250" cy="400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PC 消费者商城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7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手机 H5 消费者商城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18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Web 管理端：商家 + 平台管理员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5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Vue 3 / Element Plus / Vant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55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Spring Boot API + MySQL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JWT 根据账号角色控制入口与权限</a:t>
            </a:r>
          </a:p>
        </p:txBody>
      </p:sp>
      <p:sp>
        <p:nvSpPr>
          <p:cNvPr id="4" name="slide-number-3">
            <a:extLst xmlns:a="http://schemas.openxmlformats.org/drawingml/2006/main">
              <a:ext uri="{FF2B5EF4-FFF2-40B4-BE49-F238E27FC236}">
                <a16:creationId xmlns:a16="http://schemas.microsoft.com/office/drawing/2014/main" id="{170E4C18-2A0B-4BC6-B6A1-A8331129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fe900e549b4cba"/>
          <a:stretch xmlns:a="http://schemas.openxmlformats.org/drawingml/2006/main"/>
        </p:blipFill>
        <p:spPr>
          <a:xfrm xmlns:a="http://schemas.openxmlformats.org/drawingml/2006/main">
            <a:off x="6429375" y="1569244"/>
            <a:ext cx="5219700" cy="3262313"/>
          </a:xfrm>
          <a:prstGeom xmlns:a="http://schemas.openxmlformats.org/drawingml/2006/main" prst="roundRect">
            <a:avLst>
              <a:gd name="adj" fmla="val 2419"/>
            </a:avLst>
          </a:prstGeom>
        </p:spPr>
      </p:pic>
    </p:spTree>
    <p:extLst>
      <p:ext uri="{BB962C8B-B14F-4D97-AF65-F5344CB8AC3E}">
        <p14:creationId xmlns:p14="http://schemas.microsoft.com/office/powerpoint/2010/main" val="120951680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chain-title">
            <a:extLst xmlns:a="http://schemas.openxmlformats.org/drawingml/2006/main">
              <a:ext uri="{FF2B5EF4-FFF2-40B4-BE49-F238E27FC236}">
                <a16:creationId xmlns:a16="http://schemas.microsoft.com/office/drawing/2014/main" id="{07CF454D-3B6D-44AF-BDA5-1100ACB1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一条交易链，覆盖买家、商家和平台</a:t>
            </a:r>
          </a:p>
        </p:txBody>
      </p:sp>
      <p:cxnSp>
        <p:nvCxnSpPr>
          <p:cNvPr id="14" name="chain-line"/>
          <p:cNvCxnSpPr/>
          <p:nvPr/>
        </p:nvCxnSpPr>
        <p:spPr>
          <a:xfrm xmlns:a="http://schemas.openxmlformats.org/drawingml/2006/main">
            <a:off x="390525" y="3371850"/>
            <a:ext cx="10953750" cy="286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B8BCC4"/>
            </a:solidFill>
            <a:prstDash val="solid"/>
          </a:ln>
        </p:spPr>
      </p:cxnSp>
      <p:sp>
        <p:nvSpPr>
          <p:cNvPr id="3" name="chain-dot-1">
            <a:extLst xmlns:a="http://schemas.openxmlformats.org/drawingml/2006/main">
              <a:ext uri="{FF2B5EF4-FFF2-40B4-BE49-F238E27FC236}">
                <a16:creationId xmlns:a16="http://schemas.microsoft.com/office/drawing/2014/main" id="{6443BBCB-4325-4FBF-95E1-791925B23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4" name="chain-label-1">
            <a:extLst xmlns:a="http://schemas.openxmlformats.org/drawingml/2006/main">
              <a:ext uri="{FF2B5EF4-FFF2-40B4-BE49-F238E27FC236}">
                <a16:creationId xmlns:a16="http://schemas.microsoft.com/office/drawing/2014/main" id="{8E46AF9C-B2B0-4E9A-A0CE-06ACEFFE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买家</a:t>
            </a:r>
          </a:p>
        </p:txBody>
      </p:sp>
      <p:sp>
        <p:nvSpPr>
          <p:cNvPr id="5" name="chain-body-1">
            <a:extLst xmlns:a="http://schemas.openxmlformats.org/drawingml/2006/main">
              <a:ext uri="{FF2B5EF4-FFF2-40B4-BE49-F238E27FC236}">
                <a16:creationId xmlns:a16="http://schemas.microsoft.com/office/drawing/2014/main" id="{D8999074-6E15-4C99-8077-E1EDD48B1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85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2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浏览 → 下单 → 支付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SKU 级价格与库存
服务端计价，条件扣减</a:t>
            </a:r>
          </a:p>
        </p:txBody>
      </p:sp>
      <p:sp>
        <p:nvSpPr>
          <p:cNvPr id="6" name="chain-dot-2">
            <a:extLst xmlns:a="http://schemas.openxmlformats.org/drawingml/2006/main">
              <a:ext uri="{FF2B5EF4-FFF2-40B4-BE49-F238E27FC236}">
                <a16:creationId xmlns:a16="http://schemas.microsoft.com/office/drawing/2014/main" id="{644E8B4C-34CD-4675-8276-CF1E14B1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 w="0">
            <a:solidFill>
              <a:srgbClr val="F59E0B"/>
            </a:solidFill>
            <a:prstDash val="solid"/>
          </a:ln>
        </p:spPr>
      </p:sp>
      <p:sp>
        <p:nvSpPr>
          <p:cNvPr id="7" name="chain-label-2">
            <a:extLst xmlns:a="http://schemas.openxmlformats.org/drawingml/2006/main">
              <a:ext uri="{FF2B5EF4-FFF2-40B4-BE49-F238E27FC236}">
                <a16:creationId xmlns:a16="http://schemas.microsoft.com/office/drawing/2014/main" id="{6D6DE1C2-82BF-4AA1-B76F-30810A14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商家</a:t>
            </a:r>
          </a:p>
        </p:txBody>
      </p:sp>
      <p:sp>
        <p:nvSpPr>
          <p:cNvPr id="8" name="chain-body-2">
            <a:extLst xmlns:a="http://schemas.openxmlformats.org/drawingml/2006/main">
              <a:ext uri="{FF2B5EF4-FFF2-40B4-BE49-F238E27FC236}">
                <a16:creationId xmlns:a16="http://schemas.microsoft.com/office/drawing/2014/main" id="{F2A51901-A902-4CA7-9FCC-2CDEF52BC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7111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2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本店订单 → 发货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seller_id 数据隔离
只能处理所属商品与订单</a:t>
            </a:r>
          </a:p>
        </p:txBody>
      </p:sp>
      <p:sp>
        <p:nvSpPr>
          <p:cNvPr id="9" name="chain-dot-3">
            <a:extLst xmlns:a="http://schemas.openxmlformats.org/drawingml/2006/main">
              <a:ext uri="{FF2B5EF4-FFF2-40B4-BE49-F238E27FC236}">
                <a16:creationId xmlns:a16="http://schemas.microsoft.com/office/drawing/2014/main" id="{76828CAF-1984-45FD-A63A-173DD6E1A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solidFill>
              <a:srgbClr val="2563EB"/>
            </a:solidFill>
            <a:prstDash val="solid"/>
          </a:ln>
        </p:spPr>
      </p:sp>
      <p:sp>
        <p:nvSpPr>
          <p:cNvPr id="10" name="chain-label-3">
            <a:extLst xmlns:a="http://schemas.openxmlformats.org/drawingml/2006/main">
              <a:ext uri="{FF2B5EF4-FFF2-40B4-BE49-F238E27FC236}">
                <a16:creationId xmlns:a16="http://schemas.microsoft.com/office/drawing/2014/main" id="{F6F5BC5D-E4B4-4DFA-9A20-95C51235D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2781300"/>
            <a:ext cx="20955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买家 + 平台</a:t>
            </a:r>
          </a:p>
        </p:txBody>
      </p:sp>
      <p:sp>
        <p:nvSpPr>
          <p:cNvPr id="11" name="chain-body-3">
            <a:extLst xmlns:a="http://schemas.openxmlformats.org/drawingml/2006/main">
              <a:ext uri="{FF2B5EF4-FFF2-40B4-BE49-F238E27FC236}">
                <a16:creationId xmlns:a16="http://schemas.microsoft.com/office/drawing/2014/main" id="{28605274-0DCA-49B0-8C60-C5C79E87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879" y="3819525"/>
            <a:ext cx="3156109" cy="175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12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收货评价 → 监管</a:t>
            </a:r>
          </a:p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状态机保证顺序
管理员统一审核与管理</a:t>
            </a:r>
          </a:p>
        </p:txBody>
      </p:sp>
      <p:sp>
        <p:nvSpPr>
          <p:cNvPr id="12" name="slide-number-4">
            <a:extLst xmlns:a="http://schemas.openxmlformats.org/drawingml/2006/main">
              <a:ext uri="{FF2B5EF4-FFF2-40B4-BE49-F238E27FC236}">
                <a16:creationId xmlns:a16="http://schemas.microsoft.com/office/drawing/2014/main" id="{0BA26362-3E1D-4364-8A1C-83E382DCC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88940508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quality-title">
            <a:extLst xmlns:a="http://schemas.openxmlformats.org/drawingml/2006/main">
              <a:ext uri="{FF2B5EF4-FFF2-40B4-BE49-F238E27FC236}">
                <a16:creationId xmlns:a16="http://schemas.microsoft.com/office/drawing/2014/main" id="{F6134D13-977E-47CB-BE1B-1C54CA40A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1425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36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结果不仅能演示，也经得起回归</a:t>
            </a:r>
          </a:p>
        </p:txBody>
      </p:sp>
      <p:sp>
        <p:nvSpPr>
          <p:cNvPr id="2" name="quality-intro">
            <a:extLst xmlns:a="http://schemas.openxmlformats.org/drawingml/2006/main">
              <a:ext uri="{FF2B5EF4-FFF2-40B4-BE49-F238E27FC236}">
                <a16:creationId xmlns:a16="http://schemas.microsoft.com/office/drawing/2014/main" id="{4851DC15-071A-4965-A42D-C760FC9D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238250"/>
            <a:ext cx="1066800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9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自动化测试、真实 MySQL 和线上环境三层验证，避免只在页面上“看起来能用”。</a:t>
            </a:r>
          </a:p>
        </p:txBody>
      </p:sp>
      <p:sp>
        <p:nvSpPr>
          <p:cNvPr id="3" name="metric-panel-1">
            <a:extLst xmlns:a="http://schemas.openxmlformats.org/drawingml/2006/main">
              <a:ext uri="{FF2B5EF4-FFF2-40B4-BE49-F238E27FC236}">
                <a16:creationId xmlns:a16="http://schemas.microsoft.com/office/drawing/2014/main" id="{B680E128-EED3-4DFE-AFC9-4A9F207F5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0">
            <a:solidFill>
              <a:srgbClr val="EAF2FF"/>
            </a:solidFill>
            <a:prstDash val="solid"/>
          </a:ln>
        </p:spPr>
      </p:sp>
      <p:sp>
        <p:nvSpPr>
          <p:cNvPr id="4" name="metric-stat-1">
            <a:extLst xmlns:a="http://schemas.openxmlformats.org/drawingml/2006/main">
              <a:ext uri="{FF2B5EF4-FFF2-40B4-BE49-F238E27FC236}">
                <a16:creationId xmlns:a16="http://schemas.microsoft.com/office/drawing/2014/main" id="{32521034-26B2-480D-AAEE-CA260FD7A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26/26</a:t>
            </a:r>
          </a:p>
        </p:txBody>
      </p:sp>
      <p:sp>
        <p:nvSpPr>
          <p:cNvPr id="5" name="metric-body-1">
            <a:extLst xmlns:a="http://schemas.openxmlformats.org/drawingml/2006/main">
              <a:ext uri="{FF2B5EF4-FFF2-40B4-BE49-F238E27FC236}">
                <a16:creationId xmlns:a16="http://schemas.microsoft.com/office/drawing/2014/main" id="{002D94BA-EE59-439E-B68D-7428D988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68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后端自动化测试通过
权限、状态机、商家隔离</a:t>
            </a:r>
          </a:p>
        </p:txBody>
      </p:sp>
      <p:sp>
        <p:nvSpPr>
          <p:cNvPr id="6" name="metric-panel-2">
            <a:extLst xmlns:a="http://schemas.openxmlformats.org/drawingml/2006/main">
              <a:ext uri="{FF2B5EF4-FFF2-40B4-BE49-F238E27FC236}">
                <a16:creationId xmlns:a16="http://schemas.microsoft.com/office/drawing/2014/main" id="{A682DAD8-8FAF-4A54-8827-D79BCAC2A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7" name="metric-stat-2">
            <a:extLst xmlns:a="http://schemas.openxmlformats.org/drawingml/2006/main">
              <a:ext uri="{FF2B5EF4-FFF2-40B4-BE49-F238E27FC236}">
                <a16:creationId xmlns:a16="http://schemas.microsoft.com/office/drawing/2014/main" id="{A3B31B4A-2A5D-45AA-928C-7A951A7D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V9</a:t>
            </a:r>
          </a:p>
        </p:txBody>
      </p:sp>
      <p:sp>
        <p:nvSpPr>
          <p:cNvPr id="8" name="metric-body-2">
            <a:extLst xmlns:a="http://schemas.openxmlformats.org/drawingml/2006/main">
              <a:ext uri="{FF2B5EF4-FFF2-40B4-BE49-F238E27FC236}">
                <a16:creationId xmlns:a16="http://schemas.microsoft.com/office/drawing/2014/main" id="{A8C6A132-1F7B-4CC3-9AEE-14A4D0672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6482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Flyway 数据库迁移
真实 MySQL 冒烟通过</a:t>
            </a:r>
          </a:p>
        </p:txBody>
      </p:sp>
      <p:sp>
        <p:nvSpPr>
          <p:cNvPr id="9" name="metric-panel-3">
            <a:extLst xmlns:a="http://schemas.openxmlformats.org/drawingml/2006/main">
              <a:ext uri="{FF2B5EF4-FFF2-40B4-BE49-F238E27FC236}">
                <a16:creationId xmlns:a16="http://schemas.microsoft.com/office/drawing/2014/main" id="{051B2D63-53CD-4F18-9BD4-B07AC229E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EEF2F6"/>
          </a:solidFill>
          <a:ln xmlns:a="http://schemas.openxmlformats.org/drawingml/2006/main" w="0">
            <a:solidFill>
              <a:srgbClr val="EEF2F6"/>
            </a:solidFill>
            <a:prstDash val="solid"/>
          </a:ln>
        </p:spPr>
      </p:sp>
      <p:sp>
        <p:nvSpPr>
          <p:cNvPr id="10" name="metric-stat-3">
            <a:extLst xmlns:a="http://schemas.openxmlformats.org/drawingml/2006/main">
              <a:ext uri="{FF2B5EF4-FFF2-40B4-BE49-F238E27FC236}">
                <a16:creationId xmlns:a16="http://schemas.microsoft.com/office/drawing/2014/main" id="{061BBBAA-942E-4A58-AB86-F31DF21BF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3381375"/>
            <a:ext cx="2952750" cy="1219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435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UP</a:t>
            </a:r>
          </a:p>
        </p:txBody>
      </p:sp>
      <p:sp>
        <p:nvSpPr>
          <p:cNvPr id="11" name="metric-body-3">
            <a:extLst xmlns:a="http://schemas.openxmlformats.org/drawingml/2006/main">
              <a:ext uri="{FF2B5EF4-FFF2-40B4-BE49-F238E27FC236}">
                <a16:creationId xmlns:a16="http://schemas.microsoft.com/office/drawing/2014/main" id="{93C52831-76D5-4571-A21C-0C43744AE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7067" y="481012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Docker 三服务运行
HTTPS 正式域名可访问</a:t>
            </a:r>
          </a:p>
        </p:txBody>
      </p:sp>
      <p:sp>
        <p:nvSpPr>
          <p:cNvPr id="12" name="slide-number-5">
            <a:extLst xmlns:a="http://schemas.openxmlformats.org/drawingml/2006/main">
              <a:ext uri="{FF2B5EF4-FFF2-40B4-BE49-F238E27FC236}">
                <a16:creationId xmlns:a16="http://schemas.microsoft.com/office/drawing/2014/main" id="{793D647A-2BFD-4231-B803-C6FD39E44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276975"/>
            <a:ext cx="52387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spcAft>
                <a:spcPts val="900"/>
              </a:spcAft>
              <a:buNone/>
              <a:defRPr sz="105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5379493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B78F04A4-4A32-485C-9EC1-4F89A8399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20955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210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验收结论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45FED6A3-2514-4F1C-A8AE-6F24FACE4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676400"/>
            <a:ext cx="8572500" cy="2724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可运行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可验证</a:t>
            </a:r>
          </a:p>
          <a:p xmlns:a="http://schemas.openxmlformats.org/drawingml/2006/main">
            <a:pPr algn="l">
              <a:lnSpc>
                <a:spcPct val="88000"/>
              </a:lnSpc>
              <a:spcAft>
                <a:spcPts val="0"/>
              </a:spcAft>
              <a:buNone/>
              <a:defRPr sz="540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4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可交付</a:t>
            </a:r>
          </a:p>
        </p:txBody>
      </p:sp>
      <p:sp>
        <p:nvSpPr>
          <p:cNvPr id="3" name="conclusion-details">
            <a:extLst xmlns:a="http://schemas.openxmlformats.org/drawingml/2006/main">
              <a:ext uri="{FF2B5EF4-FFF2-40B4-BE49-F238E27FC236}">
                <a16:creationId xmlns:a16="http://schemas.microsoft.com/office/drawing/2014/main" id="{CE8663E9-93C9-43EC-BAAC-DE765C9E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895850"/>
            <a:ext cx="6858000" cy="1200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rPr>
              <a:t>核心交易闭环与商家隔离已完成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45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正式地址：eshop.zhuyiyuan9.top</a:t>
            </a:r>
          </a:p>
          <a:p xmlns:a="http://schemas.openxmlformats.org/drawingml/2006/main">
            <a:pPr algn="l">
              <a:lnSpc>
                <a:spcPct val="108000"/>
              </a:lnSpc>
              <a:spcAft>
                <a:spcPts val="900"/>
              </a:spcAft>
              <a:buNone/>
              <a:defRPr sz="1650">
                <a:solidFill>
                  <a:srgbClr val="0B122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5E6878"/>
                </a:solidFill>
                <a:latin typeface="Microsoft YaHei"/>
                <a:ea typeface="Microsoft YaHei"/>
                <a:cs typeface="Microsoft YaHei"/>
              </a:rPr>
              <a:t>现场演示：买家下单 → 商家发货 → 买家评价</a:t>
            </a:r>
          </a:p>
        </p:txBody>
      </p:sp>
    </p:spTree>
    <p:extLst>
      <p:ext uri="{BB962C8B-B14F-4D97-AF65-F5344CB8AC3E}">
        <p14:creationId xmlns:p14="http://schemas.microsoft.com/office/powerpoint/2010/main" val="3288524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2026-08-07T06:46:06.4190000Z</dcterms:created>
  <dcterms:modified xsi:type="dcterms:W3CDTF">2026-08-07T06:46:06.4190000Z</dcterms:modified>
</coreProperties>
</file>